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0873"/>
            <a:ext cx="3571875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524273"/>
            <a:ext cx="5170646" cy="1215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b="1" sz="4350" i="0" u="none">
                <a:solidFill>
                  <a:srgbClr val="FFFFFF"/>
                </a:solidFill>
                <a:latin typeface="Space Grotesk"/>
              </a:rPr>
              <a:t>Credit Card Default</a:t>
            </a:r>
            <a:r>
              <a:t>
</a:t>
            </a:r>
            <a:r>
              <a:rPr b="1" sz="4350" i="0" u="none">
                <a:solidFill>
                  <a:srgbClr val="FFFFFF"/>
                </a:solidFill>
                <a:latin typeface="Space Grotesk"/>
              </a:rPr>
              <a:t>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082504"/>
            <a:ext cx="85725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Empowering Financial Institutions with Advanced Machine Learning to Mitigate Risk and Optimize Lending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571500"/>
            <a:ext cx="53906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Space Grotesk"/>
              </a:rPr>
              <a:t>Business &amp; Data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71500"/>
            <a:ext cx="3810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314450"/>
            <a:ext cx="5550693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60A5FA"/>
                </a:solidFill>
                <a:latin typeface="Space Grotesk"/>
              </a:rPr>
              <a:t>Financial Exposure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724025"/>
            <a:ext cx="5286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Financial institutions face continuous exposure to credit default risks. Relying solely on historical manual reviews results in delayed decisions and increased bad-debt write-offs.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775495"/>
            <a:ext cx="5550693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60A5FA"/>
                </a:solidFill>
                <a:latin typeface="Space Grotesk"/>
              </a:rPr>
              <a:t>Our Data-Driven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185070"/>
            <a:ext cx="5286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We analyzed the </a:t>
            </a:r>
            <a:r>
              <a:rPr b="1" sz="1350" i="0" u="none">
                <a:solidFill>
                  <a:srgbClr val="CBD5E1"/>
                </a:solidFill>
                <a:latin typeface="Plus Jakarta Sans"/>
              </a:rPr>
              <a:t>Default of Credit Card Clients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dataset from Kaggle, capturing customer demographics, repayment history, and billing records to build an automated risk predictor.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07902"/>
            <a:ext cx="5334000" cy="25849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07902"/>
            <a:ext cx="5334000" cy="25849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393727"/>
            <a:ext cx="4860607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60A5FA"/>
                </a:solidFill>
                <a:latin typeface="Space Grotesk"/>
              </a:rPr>
              <a:t>Comprehensive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803302"/>
            <a:ext cx="46291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Utilized comprehensive billing statements, past payment status lags, and credit limit metrics to build robust predictive representations for model training.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8925" y="3393727"/>
            <a:ext cx="4860607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60A5FA"/>
                </a:solidFill>
                <a:latin typeface="Space Grotesk"/>
              </a:rPr>
              <a:t>Class Imbalance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803302"/>
            <a:ext cx="46291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Addressed significant default class skewness using precise evaluation metrics (F1-Score, ROC-AUC) beyond basic accuracy to prevent false negative bias.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907952"/>
            <a:ext cx="3429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2907952"/>
            <a:ext cx="3810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900" y="571500"/>
            <a:ext cx="114414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Space Grotesk"/>
              </a:rPr>
              <a:t>Feature &amp; Data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571500"/>
            <a:ext cx="3810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39391"/>
            <a:ext cx="3505200" cy="35221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039391"/>
            <a:ext cx="3505200" cy="35221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2039391"/>
            <a:ext cx="3505200" cy="352216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353716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5825" y="3077616"/>
            <a:ext cx="3020377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60A5FA"/>
                </a:solidFill>
                <a:latin typeface="Space Grotesk"/>
              </a:rPr>
              <a:t>Models Evaluated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487191"/>
            <a:ext cx="2876550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Tested multiple candidate algorithms including LightGBM, XGBoost, Random Forest, and KNN to identify the most robust pattern recognizer.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725" y="2353716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57725" y="3077616"/>
            <a:ext cx="3020377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60A5FA"/>
                </a:solidFill>
                <a:latin typeface="Space Grotesk"/>
              </a:rPr>
              <a:t>Optuna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487191"/>
            <a:ext cx="2876550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Leveraged Optuna combined with rigorous Cross-Validation to systematically optimize hyperparameters, ensuring zero data leakage and maximal generalization.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625" y="2353716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9625" y="3077616"/>
            <a:ext cx="3020377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60A5FA"/>
                </a:solidFill>
                <a:latin typeface="Space Grotesk"/>
              </a:rPr>
              <a:t>The Winning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9625" y="3487191"/>
            <a:ext cx="2876550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Evaluated using Cross-Validated scores alongside F1-Score and ROC-AUC, selecting the top-performing ensemble architecture as our champion.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175" y="2487066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075" y="2487066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3925" y="2487066"/>
            <a:ext cx="3048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3900" y="571500"/>
            <a:ext cx="114414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Space Grotesk"/>
              </a:rPr>
              <a:t>Model Evaluation &amp; Tuning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571500"/>
            <a:ext cx="3810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90725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00250"/>
            <a:ext cx="5314950" cy="3600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1500" y="1990725"/>
            <a:ext cx="5334000" cy="1222920"/>
          </a:xfrm>
          <a:prstGeom prst="roundRect">
            <a:avLst>
              <a:gd name="adj" fmla="val 9346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81225"/>
            <a:ext cx="4533900" cy="84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FFFFF"/>
                </a:solidFill>
                <a:latin typeface="Plus Jakarta Sans"/>
              </a:rPr>
              <a:t>Interactive Leaderboard: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Deployed via a user-friendly Streamlit app allowing risk officers to compare models and track metrics live.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3366045"/>
            <a:ext cx="5334000" cy="948630"/>
          </a:xfrm>
          <a:prstGeom prst="roundRect">
            <a:avLst>
              <a:gd name="adj" fmla="val 12048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556545"/>
            <a:ext cx="4533900" cy="567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FFFFF"/>
                </a:solidFill>
                <a:latin typeface="Plus Jakarta Sans"/>
              </a:rPr>
              <a:t>Early Risk Detection: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Flags high-probability defaulters before credit extension or during billing 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4467076"/>
            <a:ext cx="5334000" cy="948630"/>
          </a:xfrm>
          <a:prstGeom prst="roundRect">
            <a:avLst>
              <a:gd name="adj" fmla="val 12048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657576"/>
            <a:ext cx="4533900" cy="567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FFFFF"/>
                </a:solidFill>
                <a:latin typeface="Plus Jakarta Sans"/>
              </a:rPr>
              <a:t>Operational Efficiency: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Streamlines loan approvals and minimizes manual underwriting bottlenecks.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181225"/>
            <a:ext cx="1524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B82F6"/>
                </a:solidFill>
                <a:latin typeface="Plus Jakarta Sans"/>
              </a:rPr>
              <a:t>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3204120"/>
            <a:ext cx="5334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3556545"/>
            <a:ext cx="1524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B82F6"/>
                </a:solidFill>
                <a:latin typeface="Plus Jakarta Sans"/>
              </a:rP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4305151"/>
            <a:ext cx="5334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" y="4657576"/>
            <a:ext cx="1524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B82F6"/>
                </a:solidFill>
                <a:latin typeface="Plus Jakarta Sans"/>
              </a:rPr>
              <a:t>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5406181"/>
            <a:ext cx="5334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205037"/>
            <a:ext cx="238125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580358"/>
            <a:ext cx="209550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681388"/>
            <a:ext cx="180975" cy="2190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3900" y="571500"/>
            <a:ext cx="114414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Space Grotesk"/>
              </a:rPr>
              <a:t>Deployment &amp; Actionable Results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571500"/>
            <a:ext cx="3810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57338"/>
            <a:ext cx="3619500" cy="2085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3147863"/>
            <a:ext cx="2838450" cy="952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4214663"/>
            <a:ext cx="28384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8FAFC"/>
                </a:solidFill>
                <a:latin typeface="Plus Jakarta Sans SemiBold"/>
              </a:rPr>
              <a:t>Live Banking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7250" y="2262187"/>
            <a:ext cx="7300912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60A5FA"/>
                </a:solidFill>
                <a:latin typeface="Space Grotesk"/>
              </a:rPr>
              <a:t>Production-Ready Risk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7250" y="2671762"/>
            <a:ext cx="69532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Our Streamlit web application bridges machine learning modeling with actual banking operations. Features real-time credit scoring and interactive risk assessment.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150" y="3366938"/>
            <a:ext cx="838200" cy="6667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667250" y="3410842"/>
            <a:ext cx="6953250" cy="674340"/>
          </a:xfrm>
          <a:prstGeom prst="roundRect">
            <a:avLst>
              <a:gd name="adj" fmla="val 16949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8750" y="3601342"/>
            <a:ext cx="6153150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FFFFF"/>
                </a:solidFill>
                <a:latin typeface="Plus Jakarta Sans"/>
              </a:rPr>
              <a:t>Prediction Tab: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Instant risk assessment for individual loan applicants.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7250" y="4237583"/>
            <a:ext cx="6953250" cy="948630"/>
          </a:xfrm>
          <a:prstGeom prst="roundRect">
            <a:avLst>
              <a:gd name="adj" fmla="val 12048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8750" y="4428083"/>
            <a:ext cx="6153150" cy="567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FFFFF"/>
                </a:solidFill>
                <a:latin typeface="Plus Jakarta Sans"/>
              </a:rPr>
              <a:t>Model Leaderboard: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Live metric comparison across algorithms for compliance verification.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7250" y="4075658"/>
            <a:ext cx="69532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7250" y="5176688"/>
            <a:ext cx="69532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275" y="3625155"/>
            <a:ext cx="180975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275" y="4451895"/>
            <a:ext cx="180975" cy="2190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3900" y="571500"/>
            <a:ext cx="114414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Space Grotesk"/>
              </a:rPr>
              <a:t>Streamlit Production 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571500"/>
            <a:ext cx="3810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3682"/>
            <a:ext cx="3505200" cy="29735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313682"/>
            <a:ext cx="3505200" cy="29735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2313682"/>
            <a:ext cx="3505200" cy="29735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628007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5825" y="3351907"/>
            <a:ext cx="3020377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60A5FA"/>
                </a:solidFill>
                <a:latin typeface="Space Grotesk"/>
              </a:rPr>
              <a:t>Lower Default Losses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61482"/>
            <a:ext cx="28765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Drastically reduces non-performing loans (NPLs) by identifying high-risk applicants proactively before credit extension.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725" y="2628007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57725" y="3351907"/>
            <a:ext cx="3020377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60A5FA"/>
                </a:solidFill>
                <a:latin typeface="Space Grotesk"/>
              </a:rPr>
              <a:t>Optimized 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761482"/>
            <a:ext cx="28765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Enables dynamic credit limit adjustments and risk-based pricing strategies to maximize revenue and capital health.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625" y="2628007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9625" y="3351907"/>
            <a:ext cx="3020377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60A5FA"/>
                </a:solidFill>
                <a:latin typeface="Space Grotesk"/>
              </a:rPr>
              <a:t>Instant Decisioning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9625" y="3761482"/>
            <a:ext cx="28765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Accelerates customer onboarding through automated, data-driven credit evaluations with high accuracy.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025" y="2761357"/>
            <a:ext cx="304800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3900" y="571500"/>
            <a:ext cx="114414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Space Grotesk"/>
              </a:rPr>
              <a:t>Strategic Value to the Bank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571500"/>
            <a:ext cx="3810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571500"/>
            <a:ext cx="116014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FFFFF"/>
                </a:solidFill>
                <a:latin typeface="Space Grotesk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638300"/>
            <a:ext cx="110490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Questions &amp; Feedback are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84970"/>
            <a:ext cx="110490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Team 1 | Omar Yassin &amp; Mohamed Abdella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76412" y="3020466"/>
            <a:ext cx="863917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76412" y="3795712"/>
            <a:ext cx="86391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76412" y="3795712"/>
            <a:ext cx="86391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412" y="316989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71787" y="3163341"/>
            <a:ext cx="75438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https://d3lkc3n5th01x7.cloudfront.net/wp-content/uploads/2024/04/15061918/credit-risk-model-01-1.png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71787" y="3409057"/>
            <a:ext cx="75438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www.leewayhertz.com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6412" y="395466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871787" y="3948112"/>
            <a:ext cx="75438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https://images.ctfassets.net/bn476u6z5acg/34oYEkpS6GQscxLjk7dMXn/a07d607b0152d5303485327457416fcf/anaplan.jpg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1787" y="4193827"/>
            <a:ext cx="75438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www.hebbia.com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571500"/>
            <a:ext cx="114414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571500"/>
            <a:ext cx="3810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